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>
        <p:scale>
          <a:sx n="127" d="100"/>
          <a:sy n="127" d="100"/>
        </p:scale>
        <p:origin x="178" y="-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Customers by 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5E6-44CA-863A-F76E6D402EBA}"/>
              </c:ext>
            </c:extLst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E6-44CA-863A-F76E6D402EBA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E6-44CA-863A-F76E6D402EB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New York</c:v>
                </c:pt>
                <c:pt idx="1">
                  <c:v>Los Angeles</c:v>
                </c:pt>
                <c:pt idx="2">
                  <c:v>Chicago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E6-44CA-863A-F76E6D402E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764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0446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9602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888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0412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628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1234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2931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1003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22770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8531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6068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6622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24236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55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67570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762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80796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13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0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679" y="502920"/>
            <a:ext cx="8840708" cy="960120"/>
          </a:xfrm>
          <a:prstGeom prst="roundRect">
            <a:avLst>
              <a:gd name="adj" fmla="val 9524"/>
            </a:avLst>
          </a:prstGeom>
          <a:solidFill>
            <a:srgbClr val="E94560">
              <a:alpha val="18000"/>
            </a:srgbClr>
          </a:solidFill>
          <a:ln w="12700">
            <a:solidFill>
              <a:srgbClr val="E94560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🗄️  QuickBites SQL Database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Simple Explanations for Every Query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4679" y="2331720"/>
            <a:ext cx="825441" cy="100584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-968991" y="2350008"/>
            <a:ext cx="307211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-968991" y="2816352"/>
            <a:ext cx="307211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65860" y="2313432"/>
            <a:ext cx="1234440" cy="1024128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23500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-184245" y="2816352"/>
            <a:ext cx="39332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313432"/>
            <a:ext cx="1303020" cy="1024128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23500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64776" y="2816352"/>
            <a:ext cx="4030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2313432"/>
            <a:ext cx="1394460" cy="1042416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23500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37460" y="2816352"/>
            <a:ext cx="4503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22734" y="2322576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7315200" y="23500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274820" y="2816352"/>
            <a:ext cx="44119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4B8A6">
              <a:alpha val="32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576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DDL / DML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365760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4B8A6">
              <a:alpha val="32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6576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WHERE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365760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4B8A6">
              <a:alpha val="32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6576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365760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4B8A6">
              <a:alpha val="32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6576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365760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4B8A6">
              <a:alpha val="32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6576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0" y="3657600"/>
            <a:ext cx="1202987" cy="384048"/>
          </a:xfrm>
          <a:prstGeom prst="roundRect">
            <a:avLst>
              <a:gd name="adj" fmla="val 14286"/>
            </a:avLst>
          </a:prstGeom>
          <a:solidFill>
            <a:srgbClr val="14B8A6">
              <a:alpha val="32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36576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20624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5196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📖  About this database:  QuickBites is a food delivery app. It has tables for Customers, Restaurants, Orders, Delivery Partners and Menu Items — just like Zomato or Swiggy!</a:t>
            </a:r>
            <a:endParaRPr lang="en-US" sz="1100" dirty="0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43ECB85C-7D4C-59C4-364C-0C314595C018}"/>
              </a:ext>
            </a:extLst>
          </p:cNvPr>
          <p:cNvSpPr/>
          <p:nvPr/>
        </p:nvSpPr>
        <p:spPr>
          <a:xfrm>
            <a:off x="7315200" y="2331720"/>
            <a:ext cx="1485900" cy="1024128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1100" dirty="0">
              <a:solidFill>
                <a:schemeClr val="bg1"/>
              </a:solidFill>
            </a:endParaRPr>
          </a:p>
          <a:p>
            <a:endParaRPr lang="en-IN" sz="1100" dirty="0">
              <a:solidFill>
                <a:schemeClr val="bg1"/>
              </a:solidFill>
            </a:endParaRPr>
          </a:p>
          <a:p>
            <a:endParaRPr lang="en-IN" sz="1100" dirty="0">
              <a:solidFill>
                <a:schemeClr val="bg1"/>
              </a:solidFill>
            </a:endParaRPr>
          </a:p>
          <a:p>
            <a:r>
              <a:rPr lang="en-IN" sz="1100" dirty="0">
                <a:solidFill>
                  <a:schemeClr val="bg1"/>
                </a:solidFill>
              </a:rPr>
              <a:t>         Menu Items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Database Schema — All 5 Tables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" y="731520"/>
            <a:ext cx="1664208" cy="202996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3B82F6">
                <a:alpha val="8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73152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" y="768096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" y="1188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customer_id PK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5448" y="149961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first_name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5448" y="18105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last_name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5448" y="212140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5448" y="243230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join_date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01952" y="731520"/>
            <a:ext cx="1664208" cy="1719072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22C55E">
                <a:alpha val="8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01952" y="73152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768096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restaurants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47672" y="1188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restaurant_id PK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47672" y="149961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name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47672" y="18105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cuisine_type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47672" y="212140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94176" y="731520"/>
            <a:ext cx="1664208" cy="265176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94560">
                <a:alpha val="8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94176" y="73152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94176" y="768096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orders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39896" y="1188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order_id PK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39896" y="149961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customer_id FK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39896" y="18105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restaurant_id FK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39896" y="212140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partner_id FK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39896" y="243230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order_date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39896" y="2743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total_amount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39896" y="305409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status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0" y="731520"/>
            <a:ext cx="1664208" cy="1719072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F5A623">
                <a:alpha val="8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73152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768096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🛵 delivery_partners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1188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partner_id PK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32120" y="149961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partner_name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32120" y="18105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phone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32120" y="212140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vehicle_type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78624" y="731520"/>
            <a:ext cx="1664208" cy="1719072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A855F7">
                <a:alpha val="8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78624" y="73152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78624" y="768096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🍔 menu_items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24344" y="1188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item_id PK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24344" y="149961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restaurant_id FK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24344" y="18105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item_name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24344" y="212140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01168" y="3511297"/>
            <a:ext cx="8826016" cy="1632204"/>
          </a:xfrm>
          <a:prstGeom prst="roundRect">
            <a:avLst>
              <a:gd name="adj" fmla="val 10000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46888" y="3452915"/>
            <a:ext cx="8695944" cy="963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is a Schema?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74320" y="3868967"/>
            <a:ext cx="8668512" cy="858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▶  A schema is the blueprint of your database — it shows all tables and their columns.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6064" y="4207295"/>
            <a:ext cx="8616767" cy="812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🔑 PRIMARY KEY (PK) = unique ID for each row.   🔗 FOREIGN KEY (FK) = links to another table.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6064" y="4527335"/>
            <a:ext cx="8616768" cy="785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The 'orders' table is the CENTRE — it connects customers, restaurants and delivery partners.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🛠️  DDL — Creating the Database Structure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IN" sz="1400" dirty="0">
                <a:solidFill>
                  <a:schemeClr val="bg1"/>
                </a:solidFill>
              </a:rPr>
              <a:t>After planning our blueprint, we create the tables</a:t>
            </a:r>
          </a:p>
        </p:txBody>
      </p:sp>
      <p:sp>
        <p:nvSpPr>
          <p:cNvPr id="5" name="Text 3"/>
          <p:cNvSpPr/>
          <p:nvPr/>
        </p:nvSpPr>
        <p:spPr>
          <a:xfrm>
            <a:off x="338328" y="822960"/>
            <a:ext cx="4828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customers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r>
              <a:rPr lang="en-US" sz="1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AUTO_INCREMENT PRIMARY KEY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first_name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 NOT NULL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last_name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 NOT NULL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  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 DEFAULT 'New York'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join_date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713232"/>
            <a:ext cx="3383280" cy="402336"/>
          </a:xfrm>
          <a:prstGeom prst="roundRect">
            <a:avLst>
              <a:gd name="adj" fmla="val 15909"/>
            </a:avLst>
          </a:prstGeom>
          <a:solidFill>
            <a:srgbClr val="162032"/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74066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03720" y="758952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Whole number (1, 2, 3 ...)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3383280" cy="402336"/>
          </a:xfrm>
          <a:prstGeom prst="roundRect">
            <a:avLst>
              <a:gd name="adj" fmla="val 15909"/>
            </a:avLst>
          </a:prstGeom>
          <a:solidFill>
            <a:srgbClr val="162032"/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21615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03720" y="1234440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Text, up to 50 characters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0" y="1664208"/>
            <a:ext cx="3383280" cy="402336"/>
          </a:xfrm>
          <a:prstGeom prst="roundRect">
            <a:avLst>
              <a:gd name="adj" fmla="val 15909"/>
            </a:avLst>
          </a:prstGeom>
          <a:solidFill>
            <a:srgbClr val="162032"/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6916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1709928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date like 2025-01-15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0" y="2139696"/>
            <a:ext cx="3383280" cy="402336"/>
          </a:xfrm>
          <a:prstGeom prst="roundRect">
            <a:avLst>
              <a:gd name="adj" fmla="val 15909"/>
            </a:avLst>
          </a:prstGeom>
          <a:solidFill>
            <a:srgbClr val="162032"/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1671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2185416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Unique ID — no two rows same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0" y="2615184"/>
            <a:ext cx="3383280" cy="402336"/>
          </a:xfrm>
          <a:prstGeom prst="roundRect">
            <a:avLst>
              <a:gd name="adj" fmla="val 15909"/>
            </a:avLst>
          </a:prstGeom>
          <a:solidFill>
            <a:srgbClr val="162032"/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64261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2660904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MySQL assigns ID automatically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3090672"/>
            <a:ext cx="3383280" cy="402336"/>
          </a:xfrm>
          <a:prstGeom prst="roundRect">
            <a:avLst>
              <a:gd name="adj" fmla="val 15909"/>
            </a:avLst>
          </a:prstGeom>
          <a:solidFill>
            <a:srgbClr val="162032"/>
          </a:solidFill>
          <a:ln w="12700">
            <a:solidFill>
              <a:srgbClr val="E94560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11810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720" y="3136392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field cannot be empty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0" y="3566160"/>
            <a:ext cx="3383280" cy="402336"/>
          </a:xfrm>
          <a:prstGeom prst="roundRect">
            <a:avLst>
              <a:gd name="adj" fmla="val 15909"/>
            </a:avLst>
          </a:prstGeom>
          <a:solidFill>
            <a:srgbClr val="162032"/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59359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3611880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Value used if nothing given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4123944"/>
            <a:ext cx="8778240" cy="914400"/>
          </a:xfrm>
          <a:prstGeom prst="roundRect">
            <a:avLst>
              <a:gd name="adj" fmla="val 10000"/>
            </a:avLst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409651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does CREATE TABLE do?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4425696"/>
            <a:ext cx="8549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▶  It builds an empty table — like drawing columns on a blank spreadsheet before filling in data</a:t>
            </a: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700016"/>
            <a:ext cx="8549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▶  You tell MySQL: what columns exist, what type of data each holds, and any special rules (like NOT NULL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📥  DML — Inserting Data into Tables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4754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Once the tables were created, we inserted sample data</a:t>
            </a:r>
          </a:p>
          <a:p>
            <a:endParaRPr lang="en-IN" sz="1100" dirty="0">
              <a:solidFill>
                <a:schemeClr val="bg1"/>
              </a:solidFill>
            </a:endParaRPr>
          </a:p>
          <a:p>
            <a:endParaRPr lang="en-IN" sz="1100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</a:t>
            </a:r>
            <a:r>
              <a:rPr lang="en-US" sz="11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(first_name, last_name, city, join_date)
</a:t>
            </a: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
</a:t>
            </a: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('Alice',   'Smith',  'New York',    '2025-01-15'),
  ('Bob',     'Jones',  'Los Angeles', '2025-02-20'),
  ('Charlie', 'Brown',  'New York',    '2025-03-10');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49240" y="7315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Result: customers table</a:t>
            </a:r>
            <a:endParaRPr lang="en-US" sz="12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115568"/>
          <a:ext cx="3474720" cy="1874520"/>
        </p:xfrm>
        <a:graphic>
          <a:graphicData uri="http://schemas.openxmlformats.org/drawingml/2006/table">
            <a:tbl>
              <a:tblPr/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 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 Jones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Charlie Brown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Diana Prince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Evan Wright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82880" y="324612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4320" y="33009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How INSERT works — step by step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363016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1. Write INSERT INTO + the table name.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392277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2. List the columns you are filling (in brackets).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42153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3. Write VALUES and the actual data (one row per line).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45079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⚠️  Don't include customer_id — MySQL fills it automatically!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49240" y="3246120"/>
            <a:ext cx="1719072" cy="530352"/>
          </a:xfrm>
          <a:prstGeom prst="roundRect">
            <a:avLst>
              <a:gd name="adj" fmla="val 12069"/>
            </a:avLst>
          </a:prstGeom>
          <a:solidFill>
            <a:srgbClr val="162032"/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76672" y="3264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76672" y="3529584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rows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0" y="3246120"/>
            <a:ext cx="1719072" cy="530352"/>
          </a:xfrm>
          <a:prstGeom prst="roundRect">
            <a:avLst>
              <a:gd name="adj" fmla="val 12069"/>
            </a:avLst>
          </a:prstGeom>
          <a:solidFill>
            <a:srgbClr val="162032"/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59752" y="3264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… SET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59752" y="3529584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existing rows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49240" y="3840480"/>
            <a:ext cx="1719072" cy="530352"/>
          </a:xfrm>
          <a:prstGeom prst="roundRect">
            <a:avLst>
              <a:gd name="adj" fmla="val 12069"/>
            </a:avLst>
          </a:prstGeom>
          <a:solidFill>
            <a:srgbClr val="162032"/>
          </a:solidFill>
          <a:ln w="12700">
            <a:solidFill>
              <a:srgbClr val="E94560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76672" y="38587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76672" y="4123944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132320" y="3840480"/>
            <a:ext cx="1719072" cy="530352"/>
          </a:xfrm>
          <a:prstGeom prst="roundRect">
            <a:avLst>
              <a:gd name="adj" fmla="val 12069"/>
            </a:avLst>
          </a:prstGeom>
          <a:solidFill>
            <a:srgbClr val="162032"/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59752" y="38587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159752" y="4123944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fetch rows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82880" y="4572000"/>
            <a:ext cx="8778240" cy="438912"/>
          </a:xfrm>
          <a:prstGeom prst="roundRect">
            <a:avLst>
              <a:gd name="adj" fmla="val 20833"/>
            </a:avLst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74320" y="4626864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Remember: DDL builds the structure. DML fills it with data.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 SELECT &amp; WHERE — Finding the Data You Need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603504"/>
            <a:ext cx="2980944" cy="4407408"/>
          </a:xfrm>
          <a:prstGeom prst="roundRect">
            <a:avLst>
              <a:gd name="adj" fmla="val 3871"/>
            </a:avLst>
          </a:prstGeom>
          <a:solidFill>
            <a:srgbClr val="0D1B2A"/>
          </a:solidFill>
          <a:ln w="12700">
            <a:solidFill>
              <a:srgbClr val="22C55E">
                <a:alpha val="6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1188720"/>
            <a:ext cx="2834640" cy="419100"/>
          </a:xfrm>
          <a:prstGeom prst="roundRect">
            <a:avLst>
              <a:gd name="adj" fmla="val 21739"/>
            </a:avLst>
          </a:prstGeom>
          <a:solidFill>
            <a:srgbClr val="22C55E">
              <a:alpha val="78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49808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Rating ≥ 4.5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118872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cuisine_type, rating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restaurants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rating &gt;= 4.5;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" y="2743200"/>
            <a:ext cx="2688336" cy="658368"/>
          </a:xfrm>
          <a:prstGeom prst="roundRect">
            <a:avLst>
              <a:gd name="adj" fmla="val 9722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76148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Planet (4.5)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 Express (4.7)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" y="34747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162032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3529584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Explanation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3822192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picks the columns to show.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4151376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 tells which table to look in.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448056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rating &gt;= 4.5 keeps only top-rated ones.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45536" y="603504"/>
            <a:ext cx="2871216" cy="4407408"/>
          </a:xfrm>
          <a:prstGeom prst="roundRect">
            <a:avLst>
              <a:gd name="adj" fmla="val 3871"/>
            </a:avLst>
          </a:prstGeom>
          <a:solidFill>
            <a:srgbClr val="0D1B2A"/>
          </a:solidFill>
          <a:ln w="12700">
            <a:solidFill>
              <a:srgbClr val="3B82F6">
                <a:alpha val="6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170432"/>
            <a:ext cx="2834640" cy="498348"/>
          </a:xfrm>
          <a:prstGeom prst="roundRect">
            <a:avLst>
              <a:gd name="adj" fmla="val 21739"/>
            </a:avLst>
          </a:prstGeom>
          <a:solidFill>
            <a:srgbClr val="3B82F6">
              <a:alpha val="78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749808"/>
            <a:ext cx="2761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Sort by Price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73552" y="118872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order_id, total_amount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total_amount DESC;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55264" y="2743200"/>
            <a:ext cx="2688336" cy="658368"/>
          </a:xfrm>
          <a:prstGeom prst="roundRect">
            <a:avLst>
              <a:gd name="adj" fmla="val 9722"/>
            </a:avLst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276148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 → $42 → ... → $12.50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 first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55264" y="34747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162032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529584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Explanation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3822192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BY sorts the results.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0128" y="4151376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 = Descending (high to low).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0128" y="448056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ASC = Ascending (low to high).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16752" y="621792"/>
            <a:ext cx="3017520" cy="4389120"/>
          </a:xfrm>
          <a:prstGeom prst="roundRect">
            <a:avLst>
              <a:gd name="adj" fmla="val 3871"/>
            </a:avLst>
          </a:prstGeom>
          <a:solidFill>
            <a:srgbClr val="0D1B2A"/>
          </a:solidFill>
          <a:ln w="12700">
            <a:solidFill>
              <a:srgbClr val="F5A623">
                <a:alpha val="6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9632" y="1197864"/>
            <a:ext cx="2834640" cy="409956"/>
          </a:xfrm>
          <a:prstGeom prst="roundRect">
            <a:avLst>
              <a:gd name="adj" fmla="val 21739"/>
            </a:avLst>
          </a:prstGeom>
          <a:solidFill>
            <a:srgbClr val="F5A623">
              <a:alpha val="78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749808"/>
            <a:ext cx="2633472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Delivered &amp; &gt; $20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91072" y="118872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order_id, total_amount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'Delivered'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total_amount &gt; 20;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72784" y="2743200"/>
            <a:ext cx="2688336" cy="658368"/>
          </a:xfrm>
          <a:prstGeom prst="roundRect">
            <a:avLst>
              <a:gd name="adj" fmla="val 9722"/>
            </a:avLst>
          </a:prstGeom>
          <a:solidFill>
            <a:srgbClr val="F5A623">
              <a:alpha val="22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76148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orders match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be true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72784" y="34747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162032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529584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Explanation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27648" y="3822192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conditions joined with AND.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27648" y="4151376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 means BOTH must be true.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27648" y="448056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OR if either condition is enough.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728" y="4919472"/>
            <a:ext cx="8924544" cy="210312"/>
          </a:xfrm>
          <a:prstGeom prst="roundRect">
            <a:avLst>
              <a:gd name="adj" fmla="val 30069"/>
            </a:avLst>
          </a:prstGeom>
          <a:solidFill>
            <a:srgbClr val="0F3460"/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" y="4727448"/>
            <a:ext cx="8650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Operators:  =   !=   &gt;   &lt;   &gt;=   &lt;=   AND   OR   NOT   BETWEEN x AND y   IN ('a','b')   LIKE '%word%'</a:t>
            </a:r>
            <a:endParaRPr 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184C66-0244-9E8C-3A69-83B7480C2E1C}"/>
              </a:ext>
            </a:extLst>
          </p:cNvPr>
          <p:cNvSpPr txBox="1"/>
          <p:nvPr/>
        </p:nvSpPr>
        <p:spPr>
          <a:xfrm>
            <a:off x="256032" y="612648"/>
            <a:ext cx="8631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After inserting data, we need to retrieve information For that we use SELECT</a:t>
            </a:r>
          </a:p>
          <a:p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GROUP BY &amp; Aggregate Functions — Counting &amp; Totalling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28016" y="694944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3B82F6">
              <a:alpha val="14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" y="74980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" y="111556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rows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920240" y="694944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22C55E">
              <a:alpha val="14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74980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111556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values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2464" y="694944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5A623">
              <a:alpha val="14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12464" y="74980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12464" y="111556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average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530501" y="704088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E94560">
              <a:alpha val="14000"/>
            </a:srgbClr>
          </a:solidFill>
          <a:ln w="12700">
            <a:solidFill>
              <a:srgbClr val="E94560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04688" y="74980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04688" y="111556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value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296912" y="694944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96912" y="74980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96912" y="111556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value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8016" y="1737360"/>
            <a:ext cx="4251960" cy="1664208"/>
          </a:xfrm>
          <a:prstGeom prst="roundRect">
            <a:avLst>
              <a:gd name="adj" fmla="val 549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" y="1783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How many customers per city?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032" y="2121408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city,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COUNT(customer_id) AS total_customers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city;</a:t>
            </a:r>
            <a:endParaRPr lang="en-US" sz="11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526280" y="1664208"/>
          <a:ext cx="448056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128016" y="3520440"/>
            <a:ext cx="4251960" cy="1444752"/>
          </a:xfrm>
          <a:prstGeom prst="roundRect">
            <a:avLst>
              <a:gd name="adj" fmla="val 6329"/>
            </a:avLst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19456" y="357530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How GROUP BY works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65176" y="39044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Without GROUP BY → you get one result for ALL rows.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65176" y="41970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With GROUP BY city → MySQL makes a separate group for each city.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65176" y="44897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Then COUNT() counts rows inside each group.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65176" y="4672013"/>
            <a:ext cx="4032504" cy="384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Think of it as: sort into piles, then count each pile!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26280" y="3520440"/>
            <a:ext cx="4480560" cy="1444752"/>
          </a:xfrm>
          <a:prstGeom prst="roundRect">
            <a:avLst>
              <a:gd name="adj" fmla="val 63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663440" y="35661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Total revenue from delivered orders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663440" y="391363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SUM(total_amount) AS total_revenue,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AVG(total_amount) AS avg_order_value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'Delivered';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853464" y="4755737"/>
            <a:ext cx="1823085" cy="620791"/>
          </a:xfrm>
          <a:prstGeom prst="roundRect">
            <a:avLst>
              <a:gd name="adj" fmla="val 11429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16304" y="4828031"/>
            <a:ext cx="1920240" cy="260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$225.85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949440" y="4691873"/>
            <a:ext cx="1823085" cy="692942"/>
          </a:xfrm>
          <a:prstGeom prst="roundRect">
            <a:avLst>
              <a:gd name="adj" fmla="val 11429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73704" y="4672014"/>
            <a:ext cx="1998821" cy="557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$28.23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🔗  JOIN — Combining Data from Multiple Tables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64592" y="694944"/>
            <a:ext cx="8814816" cy="658368"/>
          </a:xfrm>
          <a:prstGeom prst="roundRect">
            <a:avLst>
              <a:gd name="adj" fmla="val 13889"/>
            </a:avLst>
          </a:prstGeom>
          <a:solidFill>
            <a:srgbClr val="162032"/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Real-life analogy: 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notebooks — one with customer names, one with their orders. A JOIN is like opening BOTH books and matching each order to its customer by their ID number.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1444752"/>
            <a:ext cx="4754880" cy="2148840"/>
          </a:xfrm>
          <a:prstGeom prst="roundRect">
            <a:avLst>
              <a:gd name="adj" fmla="val 425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996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Show customer name + their orders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847088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o.order_id, c.first_name, c.last_name,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o.total_amount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ON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 = c.customer_id;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444752"/>
            <a:ext cx="3904488" cy="2148840"/>
          </a:xfrm>
          <a:prstGeom prst="roundRect">
            <a:avLst>
              <a:gd name="adj" fmla="val 4255"/>
            </a:avLst>
          </a:prstGeom>
          <a:solidFill>
            <a:srgbClr val="0D2B3E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93792" y="1508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INNER JOIN works: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93792" y="1865376"/>
            <a:ext cx="3657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Take every row from 'orders'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93792" y="2148840"/>
            <a:ext cx="3657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For each order, look up the matching row in 'customers'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93792" y="2432304"/>
            <a:ext cx="3657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(match where customer_id is the same)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93792" y="2715768"/>
            <a:ext cx="3657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Combine them into one wide row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93792" y="2999232"/>
            <a:ext cx="3657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Only rows that MATCH in BOTH tables appear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93792" y="3282696"/>
            <a:ext cx="3657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(unmatched rows are dropped)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" y="3675888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694176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💡 Alias Tip:  orders o  means 'call orders table o' — it's a shortcut so you write o.order_id instead of orders.order_id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" y="4297680"/>
            <a:ext cx="8814816" cy="804672"/>
          </a:xfrm>
          <a:prstGeom prst="roundRect">
            <a:avLst>
              <a:gd name="adj" fmla="val 1136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433425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Triple JOIN — customer + restaurant + delivery partner in one query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626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o.order_id, c.first_name, r.name AS restaurant, d.partner_name, o.total_amount  </a:t>
            </a:r>
            <a:r>
              <a:rPr lang="en-US" sz="9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9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  </a:t>
            </a:r>
            <a:r>
              <a:rPr lang="en-US" sz="9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9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 </a:t>
            </a: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o.customer_id=c.customer_id  </a:t>
            </a:r>
            <a:r>
              <a:rPr lang="en-US" sz="9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9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restaurants r </a:t>
            </a: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o.restaurant_id=r.restaurant_id  </a:t>
            </a:r>
            <a:r>
              <a:rPr lang="en-US" sz="9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9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delivery_partners d </a:t>
            </a: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o.partner_id=d.partner_id;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🪆  Subqueries — A Query Inside Another Query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64592" y="694944"/>
            <a:ext cx="8814816" cy="594360"/>
          </a:xfrm>
          <a:prstGeom prst="roundRect">
            <a:avLst>
              <a:gd name="adj" fmla="val 15385"/>
            </a:avLst>
          </a:prstGeom>
          <a:solidFill>
            <a:srgbClr val="FFF3CD"/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Analogy:  </a:t>
            </a: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booking a movie ticket, you first check what time it starts. That 'check' is your inner query. You use THAT result to make your outer decision.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1389888"/>
            <a:ext cx="4709160" cy="22860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447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Orders with amount above average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792224"/>
            <a:ext cx="44805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order_id, total_amount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total_amount &gt; (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AVG(total_amount)  ← runs FIRST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0" y="1389888"/>
            <a:ext cx="3950208" cy="22860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38928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38928" y="1828800"/>
            <a:ext cx="3749040" cy="438912"/>
          </a:xfrm>
          <a:prstGeom prst="roundRect">
            <a:avLst>
              <a:gd name="adj" fmla="val 14583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18470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Inner query runs first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60336" y="186537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AVG(total_amount) = $27.43</a:t>
            </a:r>
            <a:endParaRPr lang="en-US" sz="950" dirty="0">
              <a:solidFill>
                <a:srgbClr val="C0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38928" y="2331720"/>
            <a:ext cx="3749040" cy="438912"/>
          </a:xfrm>
          <a:prstGeom prst="roundRect">
            <a:avLst>
              <a:gd name="adj" fmla="val 14583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23500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Outer query runs next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60336" y="236829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Gets all rows from orders</a:t>
            </a:r>
            <a:endParaRPr lang="en-US" sz="950" dirty="0">
              <a:solidFill>
                <a:srgbClr val="C00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38928" y="2834640"/>
            <a:ext cx="3749040" cy="438912"/>
          </a:xfrm>
          <a:prstGeom prst="roundRect">
            <a:avLst>
              <a:gd name="adj" fmla="val 14583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28529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WHERE filters rows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60336" y="287121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Keeps only orders &gt; $27.43</a:t>
            </a:r>
            <a:endParaRPr lang="en-US" sz="950" dirty="0">
              <a:solidFill>
                <a:srgbClr val="C0000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20640" y="3312700"/>
            <a:ext cx="3749040" cy="438912"/>
          </a:xfrm>
          <a:prstGeom prst="roundRect">
            <a:avLst>
              <a:gd name="adj" fmla="val 14583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3355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Result returned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60336" y="337413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orders shown</a:t>
            </a:r>
            <a:endParaRPr lang="en-US" sz="950" dirty="0">
              <a:solidFill>
                <a:srgbClr val="C00000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64592" y="3767328"/>
            <a:ext cx="8814816" cy="658368"/>
          </a:xfrm>
          <a:prstGeom prst="roundRect">
            <a:avLst>
              <a:gd name="adj" fmla="val 13889"/>
            </a:avLst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6032" y="3822192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Q8: Customers who placed a CANCELLED order — using IN with a subquery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1752" y="4151376"/>
            <a:ext cx="8586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SELECT first_name, last_name FROM customers WHERE customer_id IN (SELECT customer_id FROM orders WHERE status = 'Cancelled');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4526280"/>
            <a:ext cx="8814816" cy="685800"/>
          </a:xfrm>
          <a:prstGeom prst="roundRect">
            <a:avLst>
              <a:gd name="adj" fmla="val 13333"/>
            </a:avLst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4581144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Rule: The inner query always runs FIRST, passes its result to the outer query.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" y="4910328"/>
            <a:ext cx="8586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Use ( ) brackets around the inner query.   IN checks 'is this value in the list returned by the inner query?'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🪟  Views &amp; Advanced Queries — Dashboard Reports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64592" y="694944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498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VIEW (= a saved shortcut query)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</a:t>
            </a: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order_summary </a:t>
            </a: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
SELECT 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o.order_id, c.first_name, c.last_name,
       r.name AS restaurant, o.total_amount, o.status
</a:t>
            </a: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  </a:t>
            </a: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 </a:t>
            </a: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o.customer_id=c.customer_id
</a:t>
            </a: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JOIN </a:t>
            </a: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restaurants r </a:t>
            </a: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o.restaurant_id=r.restaurant_id;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06440" y="694944"/>
            <a:ext cx="3172968" cy="2103120"/>
          </a:xfrm>
          <a:prstGeom prst="roundRect">
            <a:avLst>
              <a:gd name="adj" fmla="val 4348"/>
            </a:avLst>
          </a:prstGeom>
          <a:solidFill>
            <a:srgbClr val="0D2B3E"/>
          </a:solidFill>
          <a:ln w="12700">
            <a:solidFill>
              <a:srgbClr val="14B8A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25312" y="76809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VIEW?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25312" y="1115568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800" dirty="0">
                <a:solidFill>
                  <a:schemeClr val="bg1"/>
                </a:solidFill>
              </a:rPr>
              <a:t>A View is a saved SQL query.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named, saved query.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25312" y="1355464"/>
            <a:ext cx="3017520" cy="610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a long JOIN query every time, you save it as a view and just call: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25312" y="1755648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➡  SELECT * FROM order_summary;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25312" y="2075688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Saves time  ✅ Avoids repetition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25312" y="2395728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Easier to read and maintain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2919824"/>
            <a:ext cx="2926080" cy="2180844"/>
          </a:xfrm>
          <a:prstGeom prst="roundRect">
            <a:avLst>
              <a:gd name="adj" fmla="val 5263"/>
            </a:avLst>
          </a:prstGeom>
          <a:solidFill>
            <a:srgbClr val="0D1B2A"/>
          </a:solidFill>
          <a:ln w="12700">
            <a:solidFill>
              <a:srgbClr val="F5A623">
                <a:alpha val="6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" y="2761488"/>
            <a:ext cx="2688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" y="3273552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800" dirty="0">
                <a:solidFill>
                  <a:schemeClr val="bg1"/>
                </a:solidFill>
              </a:rPr>
              <a:t>This query identifies the customer who spent the most money.</a:t>
            </a:r>
          </a:p>
          <a:p>
            <a:r>
              <a:rPr lang="en-IN" sz="800" dirty="0">
                <a:solidFill>
                  <a:schemeClr val="bg1"/>
                </a:solidFill>
              </a:rPr>
              <a:t>It helps the company recognize valuable customers.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c.first_name,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SUM(o.total_amount) AS total_spent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 ON c.customer_id=o.customer_id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total_spent DESC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4613148"/>
            <a:ext cx="2651760" cy="475488"/>
          </a:xfrm>
          <a:prstGeom prst="roundRect">
            <a:avLst>
              <a:gd name="adj" fmla="val 7955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221956"/>
            <a:ext cx="2578608" cy="1035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GROUP BY + ORDER BY + LIMIT 1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Gets person who spent the most.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1 = show only top 1 row.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82112" y="2907792"/>
            <a:ext cx="2871218" cy="2180844"/>
          </a:xfrm>
          <a:prstGeom prst="roundRect">
            <a:avLst>
              <a:gd name="adj" fmla="val 5263"/>
            </a:avLst>
          </a:prstGeom>
          <a:solidFill>
            <a:srgbClr val="0D1B2A"/>
          </a:solidFill>
          <a:ln w="12700">
            <a:solidFill>
              <a:srgbClr val="22C55E">
                <a:alpha val="6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55264" y="2798064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Cancelled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55264" y="3136392"/>
            <a:ext cx="2670048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800" dirty="0">
                <a:solidFill>
                  <a:schemeClr val="bg1"/>
                </a:solidFill>
              </a:rPr>
              <a:t>This query finds customers who have never cancelled an order.</a:t>
            </a:r>
          </a:p>
          <a:p>
            <a:r>
              <a:rPr lang="en-IN" sz="800" dirty="0">
                <a:solidFill>
                  <a:schemeClr val="bg1"/>
                </a:solidFill>
              </a:rPr>
              <a:t>These customers can be considered reliable customers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first_name, last_name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customer_id NOT 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customer_id FROM 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status='Cancelled');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55264" y="4443984"/>
            <a:ext cx="2761488" cy="612648"/>
          </a:xfrm>
          <a:prstGeom prst="roundRect">
            <a:avLst>
              <a:gd name="adj" fmla="val 853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4507992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NOT IN = opposite of IN.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Finds customers whose ID does NOT appear in the list of people who cancelled.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99632" y="2907792"/>
            <a:ext cx="2944368" cy="2180844"/>
          </a:xfrm>
          <a:prstGeom prst="roundRect">
            <a:avLst>
              <a:gd name="adj" fmla="val 5263"/>
            </a:avLst>
          </a:prstGeom>
          <a:solidFill>
            <a:srgbClr val="0D1B2A"/>
          </a:solidFill>
          <a:ln w="12700">
            <a:solidFill>
              <a:srgbClr val="14B8A6">
                <a:alpha val="6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72784" y="2825496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Revenue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91072" y="3273552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800" dirty="0">
                <a:solidFill>
                  <a:schemeClr val="bg1"/>
                </a:solidFill>
              </a:rPr>
              <a:t>This query calculates revenue earned by each restaurant.</a:t>
            </a:r>
          </a:p>
          <a:p>
            <a:r>
              <a:rPr lang="en-IN" sz="800" dirty="0">
                <a:solidFill>
                  <a:schemeClr val="bg1"/>
                </a:solidFill>
              </a:rPr>
              <a:t>Restaurants are then ranked based on revenue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SUM(o.total_amount) AS city_revenue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c.customer_id=o.customer_id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city_revenue DESC;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72784" y="4480560"/>
            <a:ext cx="2834640" cy="594360"/>
          </a:xfrm>
          <a:prstGeom prst="roundRect">
            <a:avLst>
              <a:gd name="adj" fmla="val 7955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507992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JOIN + GROUP BY city.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Totals all orders for each city.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which city earns the most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SQL Cheatsheet — Quick Reference Card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28016" y="749808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 w="12700">
            <a:solidFill>
              <a:srgbClr val="E94560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" y="763524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E94560">
              <a:alpha val="78000"/>
            </a:srgbClr>
          </a:solidFill>
          <a:ln w="12700">
            <a:solidFill>
              <a:srgbClr val="E94560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95528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DDL (Structure)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37744" y="122529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TABLE – build a table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" y="159105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ALTER TABLE – add/change columns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" y="195681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DROP TABLE – delete entire table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45536" y="749808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 w="12700">
            <a:solidFill>
              <a:srgbClr val="3B82F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45536" y="749808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3B82F6">
              <a:alpha val="78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795528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DML (Data)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55264" y="122529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INSERT INTO – add new rows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55264" y="159105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UPDATE…SET – change existing rows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55264" y="195681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FROM – remove rows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749808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 w="12700">
            <a:solidFill>
              <a:srgbClr val="22C55E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749808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22C55E">
              <a:alpha val="78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795528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SELECT &amp; Filter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72784" y="122529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 cols FROM table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72784" y="159105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WHERE – filter rows by condition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72784" y="195681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ORDER BY – sort (ASC / DESC)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72784" y="232257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LIMIT n – show only n rows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28016" y="2898648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 w="12700">
            <a:solidFill>
              <a:srgbClr val="F5A623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46304" y="2911602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F5A623">
              <a:alpha val="78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201168" y="2944368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Aggregates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237744" y="337413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COUNT() – count rows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7744" y="373989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SUM() – add up values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7744" y="410565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AVG() – average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7744" y="447141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GROUP BY – group rows first, then aggregate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45536" y="2898648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 w="12700">
            <a:solidFill>
              <a:srgbClr val="A855F7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45536" y="2898648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A855F7">
              <a:alpha val="78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2944368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JOINs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55264" y="337413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INNER JOIN – rows matching in BOTH tables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55264" y="373989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JOIN…ON – the link condition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55264" y="410565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table alias (AS) – shorthand name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55264" y="447141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Chain multiple JOINs for more tables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63056" y="2898648"/>
            <a:ext cx="2834640" cy="2011680"/>
          </a:xfrm>
          <a:prstGeom prst="roundRect">
            <a:avLst>
              <a:gd name="adj" fmla="val 5455"/>
            </a:avLst>
          </a:prstGeom>
          <a:solidFill>
            <a:srgbClr val="0D1B2A"/>
          </a:solidFill>
          <a:ln w="12700">
            <a:solidFill>
              <a:srgbClr val="14B8A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2912364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14B8A6">
              <a:alpha val="78000"/>
            </a:srgbClr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2944368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🪆  Advanced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272784" y="337413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Subquery – SELECT inside SELECT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72784" y="373989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 / NOT IN – list membership check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72784" y="410565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VIEW – save a query with a name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72784" y="447141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HAVING – filter after GROUP BY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28016" y="4828032"/>
            <a:ext cx="8887968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9456" y="4846320"/>
            <a:ext cx="8705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Remember the order:  SELECT → FROM → JOIN → WHERE → GROUP BY → HAVING → ORDER BY → LIMIT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E1FE41-294A-A33D-715B-7665202ECCB4}"/>
              </a:ext>
            </a:extLst>
          </p:cNvPr>
          <p:cNvSpPr txBox="1"/>
          <p:nvPr/>
        </p:nvSpPr>
        <p:spPr>
          <a:xfrm>
            <a:off x="594987" y="2035479"/>
            <a:ext cx="81607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this project, we built a food delivery database called </a:t>
            </a:r>
            <a:r>
              <a:rPr lang="en-IN" dirty="0" err="1"/>
              <a:t>QuickBites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We created tables, inserted data, connected tables using joins, performed calculations, generated reports, and </a:t>
            </a:r>
            <a:r>
              <a:rPr lang="en-IN" dirty="0" err="1"/>
              <a:t>analyzed</a:t>
            </a:r>
            <a:r>
              <a:rPr lang="en-IN" dirty="0"/>
              <a:t> business information using SQL.</a:t>
            </a:r>
          </a:p>
          <a:p>
            <a:endParaRPr lang="en-IN" dirty="0"/>
          </a:p>
          <a:p>
            <a:r>
              <a:rPr lang="en-IN" dirty="0"/>
              <a:t>This project helped us understand how databases are used in real-world applications like Swiggy and Zomato.</a:t>
            </a:r>
          </a:p>
          <a:p>
            <a:endParaRPr lang="en-IN" dirty="0"/>
          </a:p>
          <a:p>
            <a:r>
              <a:rPr lang="en-IN" dirty="0"/>
              <a:t>THANK YOU..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4C806-47A7-12F2-3E77-1035B1FD9AE2}"/>
              </a:ext>
            </a:extLst>
          </p:cNvPr>
          <p:cNvSpPr txBox="1"/>
          <p:nvPr/>
        </p:nvSpPr>
        <p:spPr>
          <a:xfrm>
            <a:off x="830580" y="662940"/>
            <a:ext cx="787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06163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731</TotalTime>
  <Words>2255</Words>
  <Application>Microsoft Office PowerPoint</Application>
  <PresentationFormat>On-screen Show (16:9)</PresentationFormat>
  <Paragraphs>335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Century Gothic</vt:lpstr>
      <vt:lpstr>Courier New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QuickBites SQL – Explained Simply</dc:title>
  <dc:subject>PptxGenJS Presentation</dc:subject>
  <dc:creator>PptxGenJS</dc:creator>
  <cp:lastModifiedBy>vaibhavinariyoor .</cp:lastModifiedBy>
  <cp:revision>14</cp:revision>
  <dcterms:created xsi:type="dcterms:W3CDTF">2026-06-12T06:25:33Z</dcterms:created>
  <dcterms:modified xsi:type="dcterms:W3CDTF">2026-06-14T17:12:17Z</dcterms:modified>
</cp:coreProperties>
</file>